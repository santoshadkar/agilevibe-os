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RE-INVENTING THE SCRUM MASTER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97706"/>
                </a:solidFill>
              </a:defRPr>
            </a:pPr>
            <a:r>
              <a:t>From Administrative Coordinator to Strategic Agile Leader &amp; AI Integrator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10058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</a:defRPr>
            </a:pPr>
            <a:r>
              <a:t>Domain: Credit Management Domain  |  Tribe: Data &amp; Analytics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Toolstack: Jira Data Center &amp; Enterprise MS Copilot Chat</a:t>
            </a:r>
          </a:p>
          <a:p>
            <a:pPr>
              <a:defRPr sz="1300" i="1">
                <a:solidFill>
                  <a:srgbClr val="0E7490"/>
                </a:solidFill>
              </a:defRPr>
            </a:pPr>
            <a:r>
              <a:t>Prepared for: Agile Coaching &amp; Scrum Master Mastery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AGILE COACHING &amp;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Scrum Master Admin Trap: Problem Statement &amp; Pivot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Symptoms of the 'Admin Trap'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Ticket Mover &amp; Jira Secretary: Spending hours manually updating Jira Data Center issue statuses, assigning tasks, and moving cards.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Meeting Calendar Manager: Focus limited to scheduling Scrum ceremonies, sending outlook invites, and writing meeting minutes.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Passive Status Reporter: Manually copy-pasting numbers into PowerPoint slides for management updates.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Scribe &amp; Note-Taker: Capturing raw notes instead of facilitating active problem-solving and engagement.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Lack of Domain Impact: Disconnected from Credit Management domain outcomes, data quality, and business value.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The Strategic Agile Leader Pivot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Team Empowerer: Coach the squad to own their Jira board and self-organize without relying on SM for administration.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Value Stream Optimizer: Analyze flow metrics (Cycle Time, Lead Time, Throughput) to remove systemic bottlenecks.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AI-Augmented Coach: Leverage MS Copilot Chat to automate reporting, draft stories, and analyze sprint trends in seconds.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Product Owner Partner: Assist PO in value-based backlog refinement, splitting complex Credit ETL/Risk Epics.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Change Catalyst: Drive engineering excellence, data governance compliance, and psychological safety.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AGILE COACHING &amp;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Core Triad of Scrum Master Responsibilities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1. Serving the Squad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Coach team members in self-management &amp; cross-functionality.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Facilitate effective Scrum events that drive decisions.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Remove blockers &amp; organizational impediments.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Foster psychological safety &amp; continuous improvement.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Shield squad from external noise &amp; scope creep.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Ensure Definition of Done (DoD) is strictly upheld.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08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2. Serving the Product 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Facilitate effective Product Backlog management.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Help PO structure Epics, Features, and User Stories.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Guide value-driven sprint goal formulation.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Assist in complex story splitting (ETL/ML models).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Bridge technical complexity with business outcomes.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Ensure empirical product planning.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3. Serving the Org &amp; Tribe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92024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Lead &amp; coach Tribe in Scrum adoption.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Coordinate cross-squad dependencies in Data &amp; Analytics.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Remove systemic impediments (Data Governance, Infra).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Increase transparency and flow across the domain.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Drive agile capability building &amp; coaching standardisation.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AGILE COACHING &amp;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Deep Dive: Serving the Developers in Data &amp;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Core Responsibilities &amp; Mindset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Facilitation over Control: Guide Daily Standups to focus on Sprint Goal progress, not individual status reporting.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Flow &amp; Bottleneck Management: Monitor WIP (Work-In-Progress) limits on Jira boards to prevent context switching.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Impediment Eradication: Proactively unblock data access issues, environment delays, and upstream schema changes.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Psychological Safety: Create retrospectives where data engineers &amp; analysts openly discuss pipeline failures without blame.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Continuous Learning: Encourage technical spikes and automation of manual testing.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Credit Management Practical Example &amp;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Scenario: Data Engineers stuck waiting 5 days for Credit Risk Database schema permission approvals.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SM Action: SM does not just take notes. SM escalates to Data Security Lead, leverages governance SLAs, and creates an automated access workflow pattern.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Significance: Prevents sprint failure, reduces cycle time by 40%, and establishes repeatable onboarding pathways for future credit risk data streams.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Outcome: Squad moves from frustration to high velocity and self-ownership.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AGILE COACHING &amp;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Deep Dive: Serving the Product Owner in Credit Domain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Core Responsibilities &amp; Techniques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Backlog Refinement Mastery: Ensure User Stories meet INVEST criteria before Sprint Planning.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Technical Deconstruction: Help PO break down massive Credit Risk Models or ETL Migration Epics into sliceable stories.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Sprint Goal Alignment: Guide PO to define outcome-oriented Sprint Goals (e.g. 'Validate Early Warning System Risk Score').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Backlog Prioritization Techniques: Teach PO WSJF (Weighted Shortest Job First) and Value vs effort mapping.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Managing Stakeholder Expectations: Protect PO from ad-hoc executive requests mid-sprint.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Credit Management Practical Example &amp;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Scenario: PO has a giant 100-pt Epic: 'Automate Collections Recovery Scoring Engine'.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SM Action: SM facilitates story splitting workshop using Vertical Slicing. Breaks Epic into 4 incremental slices: (1) Data ingestion, (2) Base score calculation, (3) Expiry alerts, (4) UI dashboard feed.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Significance: Allows early delivery of value in Sprint 1 instead of waiting 3 months for a monolithic release.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Outcome: Faster feedback loop from Credit Risk Analysts and reduced risk.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AGILE COACHING &amp;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Deep Dive: Serving the Tribe &amp; Data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Core Responsibilities &amp;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Cross-Squad Alignment: Facilitate Scrum-of-Scrums across Data Platform, Ingestion, and Credit Risk Analytics squads.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Dependency Mapping: Highlight data lineage dependencies early to avoid mid-sprint blockages.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Compliance Integration: Embed Data Quality &amp; Regulatory Compliance checks into Definition of Done (DoD).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Agile Community of Practice: Contribute to Tribe-wide agile standards and peer coaching for SMs.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Metrics Transparency: Provide honest, objective flow metrics to Tribe Leads.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Credit Management Practical Example &amp;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Scenario: Regulatory IFRS 9 Credit Provisioning model requires strict compliance signoff that delays release by 2 sprints.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SM Action: SM collaborates with Compliance &amp; Enterprise Data Governance to integrate regulatory review steps into DoD as continuous automated checks.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Significance: Eliminates end-of-sprint compliance bottlenecks, ensuring audit-ready data models on every release.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Outcome: Zero compliance breaches and predictable release cadence.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AGILE COACHING &amp;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Enterprise Powerhouse: Jira Data Center + MS Copilot Chat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Jira Data Center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Source of Truth: Centralized tracking for Epics, Stories, Bugs, Technical Debt, and Spikes.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Advanced JQL Queries: Granular filtering by Component ('Credit-Ingestion', 'Risk-Model'), FixVersion, Sprint, and Custom Fields.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Native Automation for Jira: Auto-assigning issues, triggering alerts on stale blockers, enforcement of workflow rules.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Data Export: Rich CSV/Excel export for advanced prompt-based analysis.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Filter Subscriptions: Scheduled data snapshots delivered to SM inbox.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MS Copilot Chat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Enterprise Security Compliance: Operates within organizational security boundaries with full data privacy protection.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Intelligent Data Synthesis: Transforms raw JQL export data into structured executive summaries, risk matrixes, and trends.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AI Content Drafting: Rapidly creates acceptance criteria, release notes, user story drafts, and email updates.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Root Cause Analysis: Identifies patterns in sprint spillover, bug clusters, and velocity fluctuations.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Admin Elimination: Cuts administrative work by 70%, freeing SM for coaching.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PRACTICAL AI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Copilot Use Case 1: Automated Backlog Hygiene &amp; Story Drafting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The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1. Input Rough Requirements: PO gives high-level Credit Risk requirement (e.g. 'Integrate real-time credit score lookup API for loan origination').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2. Copilot Story Structuring: SM uses MS Copilot Chat prompt to generate formatted User Story with INVEST criteria.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3. Gherkin Acceptance Criteria: Copilot automatically generates Given-When-Then testable acceptance criteria.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4. DoD &amp; Edge Case Suggestions: Copilot highlights missing data security controls, fallback logic, and audit logging needs.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5. Jira Paste: SM/PO pastes structured card into Jira Data Center in under 2 minutes.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Sample MS Copilot Prompt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Prompt: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"Act as a Senior Agile Coach for a Data &amp; Analytics squad in Credit Management. I have a rough requirement: 'We need to build an ETL pipeline to aggregate monthly credit default risk scores from SQL Server to Snowflake for executive reporting'.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Generate: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1. Standard User Story ('As a... I want... So that...')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2. 4 detailed Gherkin Acceptance Criteria (Given-When-Then)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3. Non-Functional Requirements (Data Latency, Security, Data Lineage)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4. Key Risks and dependencies to check in Jira Data Center."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⏱ Time Saved: 45 minutes per refinement session.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PRACTICAL AI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Copilot Use Case 2: Instant Executive Reporting &amp; Sprint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The Workflow (Jira DC Export + Copilot)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1. Run JQL Filter: Run JQL in Jira Data Center: `project = 'CRED' AND sprint = 142`.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2. Export CSV: Export standard fields (Key, Summary, Status, Original Estimate, Story Points, Flagged, Component).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3. Paste/Upload to MS Copilot Chat: Provide data to Copilot Chat with analysis parameters.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4. Generate Insight Report: Copilot identifies scope creep percentage, blocked hours, component bottle-necks, and team velocity variance.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5. Produce Exec Summary: Formats 1-page executive summary for Tribe Lead &amp; Credit Domain Lead.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Sample MS Copilot Prompt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Prompt: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"Analyze the attached Jira Data Center Sprint 142 CSV export for Credit Management Squad A.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Please provide: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1. Executive Summary (3 bullet points for Data Tribe Lead).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2. Scope Creep Analysis: List stories added after sprint start and total story points.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3. Bottleneck Analysis: Which component had the longest cycle time?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4. Top 3 recommendations for upcoming Sprint 143 planning."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📈 Impact: Eliminates manual slide building; 100% data-driven reporting.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PRACTICAL AI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Copilot Use Case 3: Retrospective Analysis &amp; Action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The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1. Capture Raw Feedback: Gather anonymous Retro feedback (What went well, What didn't, Bottlenecks).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2. Copilot Thematic Clustering: Feed raw notes to MS Copilot Chat to group by underlying themes (e.g. Data Access, Environment Unavailability, Requirement Ambiguity).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3. Sentiment &amp; Priority Mapping: Copilot categorizes issues by severity and impact on sprint velocity.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4. Action Item Generation: Copilot formats actionable, SMART retro items ready for creation as Jira tasks.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5. Follow-up Tracking: Track action item completion rate across sprints.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Sample MS Copilot Prompt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Prompt: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"Here are raw retrospective notes from our Credit Scoring pipeline squad: [paste notes].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Perform the following: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1. Cluster notes into 3 core themes.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2. Identify systemic root causes vs isolated incidents.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3. Draft 3 SMART action items with suggested owners and Jira task summaries.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4. Draft a positive, encouraging closing message for the squad teams channel."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💡 Impact: Elevates Retro quality from complaining session to strategic improvement.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PRACTICAL AI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Copilot Use Case 4: Automations &amp; Governance Safeguards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Jira Data Center Automation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Rule 1: Stale Issue Alert: Auto-flag stories in 'In Progress' for &gt; 4 days with label `stale_review`.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Rule 2: Sub-task Checklist Generator: Auto-create mandatory data compliance sub-tasks when issue component = `Credit-Model-Release`.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Rule 3: Auto-Closure of Blockers: Notify SM when linked external dependency ticket is resolved.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Rule 4: Data Quality DoD Gate: Block transition to 'Done' if 'Data Lineage URL' custom field is empty.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MS Copilot Automation Assistant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Prompt: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"I am setting up Automation for Jira Data Center. I want to build a rule that triggers when a issue in project 'CRED' stays in 'In Testing' for more than 48 hours.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Help me write: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1. The exact JQL condition filter.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2. The Slack/Teams notification message template.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3. Smart values to extract assignee name and issue summary dynamically."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⚙ Result: Zero manual monitoring needed by SM.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AI TOOLKIT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Scrum Master MS Copilot Prompt Playbook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Refinement &amp; Story Splitting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'Break down this Epic into vertical user stories delivering end-to-end data value...'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'Generate edge cases for testing credit risk threshold calculation...'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'Draft clear Definition of Done criteria including Data Lineage and PII masking...'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08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Daily Facilitation &amp;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'Identify blockers from today's standup updates and suggest mitigation strategies...'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'Draft a quick email to Data Architecture to request urgent review of credit schema...'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'Summarize key decisions made during architecture spike session...'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Domain &amp; Executive Updates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92024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'Translate technical data pipeline velocity metrics into business language for Credit Domain Head...'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'Draft sprint review presentation script highlighting accomplishments &amp; business metrics...'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'Create a risk matrix for upcoming credit scoring engine release...'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GROWTH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Scrum Master Mastery Roadmap: From Admin to Agile Leader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68880" cy="49377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Phase 1: Admin Freedom</a:t>
            </a:r>
            <a:br/>
            <a:r>
              <a:t>(Weeks 1-4)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Delegate board status updating to squad.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Automate Jira DC workflows &amp; alerts.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Adopt MS Copilot Chat for routine drafting.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Milestone: 50% reduction in SM admin overhead.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71600"/>
            <a:ext cx="2468880" cy="49377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508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Phase 2: Flow &amp; AI Integration</a:t>
            </a:r>
            <a:br/>
            <a:r>
              <a:t>(Weeks 5-8)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92024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Implement WIP limits &amp; Cycle Time tracking.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Standardize INVEST story creation via Copilot.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Advanced JQL export analytics.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Milestone: 25% decrease in story cycle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468880" cy="49377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08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Phase 3: Domain &amp; PO Coaching</a:t>
            </a:r>
            <a:br/>
            <a:r>
              <a:t>(Weeks 9-12)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Master vertical story slicing for Credit ETL.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Facilitate outcome-based Sprint Planning.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Establish automated compliance gates in DoD.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Milestone: 90% Sprint Goal attainment rate.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371600"/>
            <a:ext cx="2468880" cy="49377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508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Phase 4: Tribe Leader</a:t>
            </a:r>
            <a:br/>
            <a:r>
              <a:t>(Weeks 13-16)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92024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Lead Scrum-of-Scrums for Credit Domain.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Coach peer SMs in MS Copilot adoption.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Drive continuous delivery &amp; enterprise agility.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Milestone: Recognized Agile Change Leader.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COACHING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Agile Coaching Program: AC &amp; SM Coaching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Coaching Session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Cadence: Weekly 60-minute 1-on-1 Coaching Sessions (12 Weeks Total).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Structure: 10m Check-in &amp; Homework Review, 25m Concept Deep Dive &amp; Skill Building, 20m Practical Application &amp; Copilot Simulation, 5m Action Items &amp; Homework Assignment.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Safe Space Environment: High psychological safety, constructive feedback, active listening.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Accountability: Shared digital tracker for action items, observations, and milestone progression.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Key Evaluation &amp; Success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Admin Overhead Ratio: Reduction in hours spent on manual ticket updating (Target: &lt; 2 hrs/week).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Squad Self-Organization Index: Squad independence during standups and Jira card updates.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AI Adoption Rate: Frequency and effectiveness of MS Copilot Chat prompt usage.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Sprint Delivery Predictability: Say-do ratio (Committed vs Delivered Story Points).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Cycle Time Stability: Consistency in data pipeline ticket completion.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COACHING CURRICULUM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12-Week Agile Coaching Session Curriculum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Sessions 1 - 6: Foundation &amp; Efficiency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Session 1: Baseline Assessment &amp; Breaking the Admin Mindset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Session 2: Mastery of Scrum Ceremonies &amp; True Facilitation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Session 3: Enterprise MS Copilot Chat Setup &amp; Prompting 101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Session 4: Jira Data Center JQL Mastery &amp; Automation Rules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Session 5: Advanced Backlog Hygiene &amp; INVEST Story Drafting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Session 6: Flow Metrics (Cycle Time, WIP Limits, Throughput)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Sessions 7 - 12: Domain Impact &amp; Leadership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Session 7: Vertical Story Slicing in Data &amp; Analytics / ETL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Session 8: Serving the PO - Value Prioritization &amp; Roadmapping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Session 9: Embedding Regulatory &amp; Data Compliance into DoD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Session 10: Retrospective Intelligence with MS Copilot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Session 11: Cross-Squad Alignment &amp; Tribe Dependency Management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Session 12: Program Review, Future Vision &amp; SM Leadership Self-Sustainment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CALL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Immediate Action Plan &amp; Week 1 Quick Wins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Scrum Master Immediate Action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1. Conduct Admin Audit: Track time spent on manual Jira updates vs coaching for 3 days.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2. Set Up Squad Board Ownership: Announce during retro that squad will update their own Jira cards.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3. Bookmark MS Copilot Chat: Store the provided SM Prompt Playbook.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4. Configure 1 Jira Automation: Set up automatic flag/alert for stale issues &gt; 3 days.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5. Prepare for Coaching Session 1: Complete self-assessment baseline survey.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Agile Coach Immediate Action 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1. Schedule Coaching Cadence: Send recurring Outlook invites for weekly 1-on-1 coaching.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2. Initialize Coaching Tracker: Share the digital coaching session tracker artifact.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3. Inform Tribe/Domain Leadership: Align with Data &amp; Analytics Tribe Lead on SM growth goals.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4. Observe 1 Standup &amp; Retro: Perform baseline observation of SM facilitation style.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5. Review First Copilot Output: Review SM's first AI-assisted story draft and refine.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