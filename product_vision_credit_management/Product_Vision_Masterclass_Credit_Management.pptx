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This expanded masterclass covers everything a Product Owner needs to know about Product Vision. We start with universal, generic product concepts (definitions, timing, creation steps, frameworks, and squad/leadership communication) and then apply them directly to the Credit Management domain in Data &amp;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expectations for the entire presentation. By the end of this deck, a PO will be fully equipped to define, articulate, and lead a product vision both conceptually and practically in Credit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to the PO that a vision is NOT a list of features or a project timeline. It is an emotional and strategic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managers often confuse Vision with Strategy or Roadmap. Use this matrix to show how each level plays a distinct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vision, squads suffer from feature factory syndrome—building lots of stuff without achieving strategic business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7 qualities as an evaluation rubric when reviewing draft vision statements with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Product Vision is NOT created once and forgotten. It must respond to major market and technological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slide to set clear governance expectations. Vision alignment happens bi-weekly, but vision overhauls happen annually or every 3-5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complete vision statement must contain these 6 building blocks. If any block is missing, the vision feels incomplete or 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write a product vision alone in a dark room. Follow this 5-phase collaborative process to get true buy-in.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5 major vision frameworks. Each framework offers a unique lens suitable for different team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Geoffrey Moore's template is ideal for elevator pitches and executive summaries. It ensures crisp competitive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Roman Pichler's Vision Board bridges high-level aspirational vision with practical product strategy and business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companies communicate from the outside-in (What -&gt; How -&gt; Why). Great product leaders communicate from the inside-out (Why -&gt; How -&gt; What).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Marty Cagan emphasizes that product vision is the primary tool for creating empowered, outcome-driven product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Radhika Dutt's RPT framework prevents 'hero-driven product development' by forcing teams to anchor vision in deep problem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single 'best' framework. A PO should select the tool that best fits their squad's maturity and stakeholder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pitch deck does not fit all. Tailor your message depending on whether you are speaking to software developers, executive leaders, or business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Engineers and data scientists care deeply about quality and purpose. When they understand the vision, they make better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Executives don't have time for long technical presentations. Frame your vision pitch around financial ROI, strategic alignment, and risk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Cross-functional alignment prevents friction downstream when your product goes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Humans remember stories 22 times more than raw facts and bullet points. Use storytelling to make your product vision unforgettable.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shift from generic PV theory to practical application in Credit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your data product scope across these 5 stages of the credit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sprint task in your Credit Management backlog should map to at least one of these 5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worked example as a template when writing your own squad's vision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presents a complete Vision Board for Credit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your vision to a North Star metric (RADEI) and 3 operational metric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90-day plan as your personal onboarding roadmap to establish credibility and leadership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Congratulations! You have completed the comprehensive Product Vision Masterclass.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PRODUCT MANAGEMENT MASTERCLASS</a:t>
            </a:r>
          </a:p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Mastering Product Vision: Core Concepts &amp; Domain Application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An Exhaustive Guide on What PV Is, How/When to Create &amp; Update It, Core Frameworks, Socialization, and Credit Management Domain Integration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Target Audience: Product Owners, Product Managers &amp; Tribe Leaders | Data &amp; Analytics Tribe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Executive Learning Objectives: What You Will Master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🧠 Core Vision Concepts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What Product Vision is and how it differs from Mission, Strategy, and Roadmaps.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6 essential components (anatomy) of a high-impact vision.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When to create, review, and update a vision (cadence &amp; trigger events).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🛠️ Frameworks &amp; Communication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Mastering 5 frameworks: Moore, Pichler, Sinek (Golden Circle), Cagan, and Radical Product Thinking.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How to socialize vision with Agile Squads (Engineers &amp; Data Scientists).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Pitching to Executive Leadership &amp; C-Suite with high-impact ROI framing.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💳 Credit Domain Application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Applying vision frameworks to Credit Underwriting, EWS, and Collections.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5 Strategic Pillars of Credit Analytics Data Products.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Metric Architecture (North Star RADEI) and 30-60-90 Day PO Onboarding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What is a Product Vision? Deep Definition &amp; Core Philosophy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1">
                <a:solidFill>
                  <a:srgbClr val="FFFFFF"/>
                </a:solidFill>
              </a:defRPr>
            </a:pPr>
            <a:r>
              <a:t>"A Product Vision is an overarching, inspiring, and long-term aspirational statement of the future state your product seeks to achieve over a 3 to 5-year horizon. It defines WHY the product exists, WHO it serves, and WHAT transformative value it delivers to users and the enterprise."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328416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1. Purpose &amp; Inspiration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It rallies multi-disciplinary teams around a shared, noble purpose beyond writing lines of code or completing Jira sprint tickets.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834640"/>
            <a:ext cx="3328416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97180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2. Strategic Guardrail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It provides clear decision guardrails. It empowers the PO to confidently say 'NO' to out-of-scope feature requests and distraction traps.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834640"/>
            <a:ext cx="3328416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97180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3. Enterprise Value Link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It directly connects tactical execution (code, data pipelines, APIs) to executive business outcomes (loss reduction, growth, compliance).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Demystifying Terminology: Vision vs Mission vs Strategy vs Roadmap vs Backlog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286000"/>
                <a:gridCol w="3504895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Primary Focus &amp; Horizon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Core Question Answered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Example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Product 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3-5 Years | Long-term future 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WHY does the product exist?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To make credit access instantaneous, transparent, and fair worldwide.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Product 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Ongoing | Operational purpose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WHAT do we do daily to achieve the vision?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We build AI-driven risk scoring and real-time underwriting data products.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Product Strategy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1-2 Years | Strategic pillars &amp; approach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HOW will we achieve the vision?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By integrating open-banking data &amp; automated early warning distress models.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Product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3-12 Months | Chronological 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WHEN will major outcomes be delivered?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Q1: EWS Model v1; Q2: Bureau API modernizer; Q3: SHAP portal.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Product Backlog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1-4 Weeks | Tactical epics &amp; stories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WHAT specific items are being built now?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User Story: Expose SHAP feature importance REST API endpoint.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Why Product Vision is Critical: 5 Strategic Value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1. Strategic Decision Filter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Filter for evaluating ad-hoc feature requests.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Empowers PO to say 'No' to scope creep.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Keeps squad focused on high-leverage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7136" y="155448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Cross-Functional Autonomy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Aligns Product, Engineering, Risk &amp; Execs.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Enables autonomous squad decision-making.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Reduces approval bottlenecks &amp; escalations.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55448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Team Purpose &amp; Motivation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Transforms ticket processors to problem solvers.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Connects code delivery to real human impact.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Increases team pride, retention, &amp; velocity.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4. Outcome Centricity over Feature Output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Shifts focus from building output (stories) to delivering outcome (value).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Ensures long-term customer pain points drive the backlog priorities.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5. Future-Proofing &amp; Competitive Advantage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Anticipates market shifts and technological disruption proactively.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Ensures long-term defensibility and enterprise market leadership.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7 Qualities of a World-Class Product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1. Inspiring &amp; Aspirational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Stretches imagination &amp; motivates squads to solve hard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160020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Clear &amp; Concise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Easy to understand &amp; repeat in an elevator pitch without jargon.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60020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3. Customer-Centric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Grounded in real user pain points rather than internal tech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60020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4. Stable Yet Flexible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Endures across 3-5 years while allowing tactical strategy to pivot.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5. Differentiating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Articulates why this product is uniquely positioned vs alternatives.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406908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6. Value-Linked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Directly connects user value creation to enterprise financial ROI.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06908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7. Feasible &amp; Realizable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Grounded in technical possibility and strategic enterprise realism.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When to Create &amp; Update a Product Vision? Key Lifecycle Triggers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🚀 When to CREATE a New Vision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New Product / Squad Launch: </a:t>
            </a:r>
            <a:r>
              <a:rPr>
                <a:solidFill>
                  <a:srgbClr val="1E293B"/>
                </a:solidFill>
              </a:rPr>
              <a:t>When a new squad, domain, or data product initiative is established.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Major Strategic Pivot: </a:t>
            </a:r>
            <a:r>
              <a:rPr>
                <a:solidFill>
                  <a:srgbClr val="1E293B"/>
                </a:solidFill>
              </a:rPr>
              <a:t>When the existing business model or target market shifts fundamentally.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New Domain PO Onboarding: </a:t>
            </a:r>
            <a:r>
              <a:rPr>
                <a:solidFill>
                  <a:srgbClr val="1E293B"/>
                </a:solidFill>
              </a:rPr>
              <a:t>When a new PO takes over a legacy domain needing realignment.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Unification of Siloed Products: </a:t>
            </a:r>
            <a:r>
              <a:rPr>
                <a:solidFill>
                  <a:srgbClr val="1E293B"/>
                </a:solidFill>
              </a:rPr>
              <a:t>When merging multiple fragmented tools into a unified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2415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🔄 When to UPDATE / REFRESH an Existing Vision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Macroeconomic / Market Shifts: </a:t>
            </a:r>
            <a:r>
              <a:rPr>
                <a:solidFill>
                  <a:srgbClr val="1E293B"/>
                </a:solidFill>
              </a:rPr>
              <a:t>Major economic changes (e.g., rate hikes, recession, inflation).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Regulatory &amp; Compliance Shifts: </a:t>
            </a:r>
            <a:r>
              <a:rPr>
                <a:solidFill>
                  <a:srgbClr val="1E293B"/>
                </a:solidFill>
              </a:rPr>
              <a:t>New legal mandates (e.g., Basel IV, AI Governance Acts).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Disruptive Tech Advancements: </a:t>
            </a:r>
            <a:r>
              <a:rPr>
                <a:solidFill>
                  <a:srgbClr val="1E293B"/>
                </a:solidFill>
              </a:rPr>
              <a:t>Emergence of new tech capabilities (e.g., GenAI, LLMs, Real-time APIs).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</a:defRPr>
            </a:pPr>
            <a:r>
              <a:t>• Vision Achievement: </a:t>
            </a:r>
            <a:r>
              <a:rPr>
                <a:solidFill>
                  <a:srgbClr val="1E293B"/>
                </a:solidFill>
              </a:rPr>
              <a:t>When the original 3-5 year vision state has been successfully realized.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Frequency Guide: How Often Should You Review &amp; Refresh PV?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42032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Continuous Alignment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Bi-Weekly / Monthly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3591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Reference vision during sprint planning.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Validate backlog user stories against vision pillars.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Keep squad focused on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56432" y="1463040"/>
            <a:ext cx="254203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Quarterly Pulse Check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Every 3 Months (OKRs)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2468880"/>
            <a:ext cx="23591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Review vision relevance against quarterly OKRs.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Assess market changes and competitor moves.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Make minor tactical course corrections.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1463040"/>
            <a:ext cx="254203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Annual Strategic Review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Every 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468880"/>
            <a:ext cx="23591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Formal alignment session with CRO &amp; Execs.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Validate 3-5 year trajectory.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Refresh vision board &amp; strategic pillars.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06256" y="1463040"/>
            <a:ext cx="254203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Major Paradigm Shift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Every 3-5 Years (or Pivot)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2468880"/>
            <a:ext cx="23591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Full vision overhaul upon realizing original state.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Re-position product for next growth cycle.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Re-architect long-term data capabilities.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Anatomy of a Product Vision: 6 Core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1. Target User / Customer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Who specifically is this product built for? (e.g., Credit Underwriters, Risk Analysts).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7136" y="160020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Core Problem / Pain Point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What fundamental problem or friction are we solving for them?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0020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 Solution Capability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What primary capability or innovation does the product provide?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4. Key Differentiator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Why is our approach superior to legacy methods or alternative tools?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384048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397764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5. Strategic Business Outcome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What measurable enterprise ROI does this product deliver?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384048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977640"/>
            <a:ext cx="31455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6. The Inspiring Hook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What emotional &amp; aspirational theme rallies the squad around the vision?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Step-by-Step Guide: How to Craft a Product Vision from Scratch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993392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1: Discover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1-2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10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Conduct user &amp; stakeholder interviews.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Audit existing data assets &amp; pain points.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Analyze competitive/industry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07792" y="1463040"/>
            <a:ext cx="199339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2: Co-Create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1 Day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468880"/>
            <a:ext cx="1810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Gather Squad, Risk Leads &amp; Design.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Run Vision Board brainstorming.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Define target state &amp; core pillars.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4064" y="1463040"/>
            <a:ext cx="199339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3: Draft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3-5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468880"/>
            <a:ext cx="1810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Synthesize workshop inputs.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Apply Geoffrey Moore &amp; Pichler frameworks.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Draft 2-3 vision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0336" y="1463040"/>
            <a:ext cx="199339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4: Validate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1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6" y="2468880"/>
            <a:ext cx="1810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Test vision with front-line users.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Review with CRO &amp; Executive Sponsors.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Refine language for maximum clarity.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36608" y="1463040"/>
            <a:ext cx="199339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5: Socialize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468880"/>
            <a:ext cx="18105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Launch vision in Squad Town Hall.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Embed in roadmap &amp; Jira backlog.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Incorporate into quarterly OKRs.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Overview of Product Vision Frameworks &amp;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Why Use Vision Frameworks?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Eliminates Writer's Block: Standardized templates give immediate structure to complex strategic ideas.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Ensures Completeness: Prevents skipping critical elements like target user, differentiator, or enterprise outcome.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Drives Stakeholder Consensus: Establishes a shared language across technical and non-technical leaders.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Facilitates Comparison: Allows teams to evaluate alternative vision positions side-by-side.</a:t>
            </a:r>
          </a:p>
          <a:p>
            <a:pPr>
              <a:spcBef>
                <a:spcPts val="1800"/>
              </a:spcBef>
              <a:defRPr sz="1500" b="1">
                <a:solidFill>
                  <a:srgbClr val="0E7490"/>
                </a:solidFill>
              </a:defRPr>
            </a:pPr>
            <a:r>
              <a:t>The 5 Master Frameworks We Will Explore: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</a:defRPr>
            </a:pPr>
            <a:r>
              <a:t>1. Geoffrey Moore's Positioning Formula  |  2. Roman Pichler's Vision Board  |  3. Simon Sinek's Golden Circle</a:t>
            </a:r>
            <a:br/>
            <a:r>
              <a:t>4. Marty Cagan's Product Vision Tenets  |  5. Radhika Dutt's Radical Product Thinking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1: Geoffrey Moore's Positioning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Geoffrey Moore Vision Formula (Generic Structure)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FOR: </a:t>
            </a:r>
            <a:r>
              <a:rPr sz="1200">
                <a:solidFill>
                  <a:srgbClr val="1E293B"/>
                </a:solidFill>
              </a:rPr>
              <a:t>[Target Customer / User Segment]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WHO NEED: </a:t>
            </a:r>
            <a:r>
              <a:rPr sz="1200">
                <a:solidFill>
                  <a:srgbClr val="1E293B"/>
                </a:solidFill>
              </a:rPr>
              <a:t>[Core Pain Point or Opportunity]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THE (Product Name): </a:t>
            </a:r>
            <a:r>
              <a:rPr sz="1200">
                <a:solidFill>
                  <a:srgbClr val="1E293B"/>
                </a:solidFill>
              </a:rPr>
              <a:t>[Product Name / Data Product Category]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THAT IS A: </a:t>
            </a:r>
            <a:r>
              <a:rPr sz="1200">
                <a:solidFill>
                  <a:srgbClr val="1E293B"/>
                </a:solidFill>
              </a:rPr>
              <a:t>[Product Category / System Type]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THAT DELIVERS: </a:t>
            </a:r>
            <a:r>
              <a:rPr sz="1200">
                <a:solidFill>
                  <a:srgbClr val="1E293B"/>
                </a:solidFill>
              </a:rPr>
              <a:t>[Key Capability &amp; Primary Benefit]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UNLIKE: </a:t>
            </a:r>
            <a:r>
              <a:rPr sz="1200">
                <a:solidFill>
                  <a:srgbClr val="1E293B"/>
                </a:solidFill>
              </a:rPr>
              <a:t>[Primary Existing Alternative or Manual Process]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OUR PRODUCT: </a:t>
            </a:r>
            <a:r>
              <a:rPr sz="1200">
                <a:solidFill>
                  <a:srgbClr val="1E293B"/>
                </a:solidFill>
              </a:rPr>
              <a:t>[Key Differentiator &amp; Ultimate Enterprise Impact]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2: Roman Pichler's Product Vision 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OVERARCHING VISION STATEMENT: The inspiring 1-sentence North Star describing the future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TARGET GROUP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Who are the primary users?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Who are the enterprise buyers?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Which market segment?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NEEDS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What problem does it solve?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What benefit does it provide?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Why would users pay for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PRODUCT FEATURES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What is the product?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3-5 top capabilities?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What makes it unique?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BUSINESS GOALS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How does it benefit business?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Revenue / Margin goals?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Cost savings / Risk targets?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3: Simon Sinek's Golden Circle (Start With WHY)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WHY (Purpose)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Core Belief &amp; Purpose.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Why does this product exist?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Why should anyone care?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Inspires emotional commitment across squads and stakeholders.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2. HOW (Strategy)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Differentiating Principles.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How do we fulfill our WHY?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What unique values, architectures, or methods guide us?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Establishes competitive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3. WHAT (Product)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Tangible Deliverable.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What specific product or features do we build?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physical or digital manifestation of the WHY.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Sits at the outer edge of the vision.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4: Marty Cagan's Product Vision Tenets (INSPIRED)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Marty Cagan's Core Principles for Effective Product Vision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1. Focus on the Outcome, Not Features — </a:t>
            </a:r>
            <a:r>
              <a:rPr sz="1150">
                <a:solidFill>
                  <a:srgbClr val="1E293B"/>
                </a:solidFill>
              </a:rPr>
              <a:t>Vision must define the change in customer behavior or business state, not a laundry list of UI features.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2. Empowered Teams Need Big Vision — </a:t>
            </a:r>
            <a:r>
              <a:rPr sz="1150">
                <a:solidFill>
                  <a:srgbClr val="1E293B"/>
                </a:solidFill>
              </a:rPr>
              <a:t>Empowered squads require a meaningful, ambitious vision to solve complex problems autonomously.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3. Fall in Love with the Problem, Not Solution — </a:t>
            </a:r>
            <a:r>
              <a:rPr sz="1150">
                <a:solidFill>
                  <a:srgbClr val="1E293B"/>
                </a:solidFill>
              </a:rPr>
              <a:t>Solutions change continuously as technology evolves, but core customer problems endure.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4. Don't Be Afraid to Disruption Yourself — </a:t>
            </a:r>
            <a:r>
              <a:rPr sz="1150">
                <a:solidFill>
                  <a:srgbClr val="1E293B"/>
                </a:solidFill>
              </a:rPr>
              <a:t>A great vision embraces meaningful technological disruption before competitors force it.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5. Inspire the Team Daily — </a:t>
            </a:r>
            <a:r>
              <a:rPr sz="1150">
                <a:solidFill>
                  <a:srgbClr val="1E293B"/>
                </a:solidFill>
              </a:rPr>
              <a:t>The vision must be repeated constantly until every engineer and designer lives and breathes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5: Radhika Dutt's Radical Product Thinking (RPT)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Radical Product Thinking (RPT) Vision Statement Formula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WHOSE PROBLEM?: </a:t>
            </a:r>
            <a:r>
              <a:rPr sz="1200">
                <a:solidFill>
                  <a:srgbClr val="1E293B"/>
                </a:solidFill>
              </a:rPr>
              <a:t>Today, when [Target User Group] experience [Specific Pain Point/Distress]...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WHAT IS THE CURRENT FRICTION?: </a:t>
            </a:r>
            <a:r>
              <a:rPr sz="1200">
                <a:solidFill>
                  <a:srgbClr val="1E293B"/>
                </a:solidFill>
              </a:rPr>
              <a:t>They are forced to rely on [Inadequate Workaround / Friction-heavy Process]...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WHAT WORLD ARE WE CREATING?: </a:t>
            </a:r>
            <a:r>
              <a:rPr sz="1200">
                <a:solidFill>
                  <a:srgbClr val="1E293B"/>
                </a:solidFill>
              </a:rPr>
              <a:t>We envision a world where [Desired Future State &amp; Capability]...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HOW WILL WE CHANGE IT?: </a:t>
            </a:r>
            <a:r>
              <a:rPr sz="1200">
                <a:solidFill>
                  <a:srgbClr val="1E293B"/>
                </a:solidFill>
              </a:rPr>
              <a:t>By building [Product / Platform Architecture] that delivers [Core Innovation]...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WHY IT MATTERS?: </a:t>
            </a:r>
            <a:r>
              <a:rPr sz="1200">
                <a:solidFill>
                  <a:srgbClr val="1E293B"/>
                </a:solidFill>
              </a:rPr>
              <a:t>So that [Ultimate Business &amp; Human Outcome / Long-Term Impact].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Framework Comparison: Selecting the Right Framework for Your Squad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926080"/>
                <a:gridCol w="2956255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Used For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Potential Drawback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Geoffrey Moore Formula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Elevator pitches &amp; executive 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Rigid structure ensures crisp competitive positioning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Can feel overly formulaic if copied blindly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Roman Pichler Vision 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Strategic product planning workshops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Connects high-level vision directly to business goals &amp;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Requires multi-stakeholder workshop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Simon Sinek Golden Circle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Cultural team inspiration &amp; purpose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Builds deep emotional alignment ('Start with WHY')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Less detailed on specific product capabilities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Marty Cagan Tenets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Building empowered agile squads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Shifts mindset from feature output to customer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Philosophy-heavy; needs template 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Radical Product Thinking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Complex, problem-heavy domain transformation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Deep focus on user pain points and system change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Requires extensive upfront discovery 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Socializing Product Vision: The 3-Tier Enterprise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1. Agile Squad (Delivery)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Audience: Engineers, Data Scientists, MLOps, Testers.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Focus: Purpose, technical quality, architecture elegance.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Message: 'Your pipeline work directly protects families from credit default.'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Cadence: Sprint Planning &amp; Retrospectives.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Executive Leadership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Audience: Tribe Lead, CRO, Chief Data Officer.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Focus: Enterprise ROI, financial risk reduction, market positioning.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Message: 'This vision saves $12M annually while accelerating growth.'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Cadence: Monthly SteerCo &amp; Quarterly OKRs.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3. Cross-Functional Partners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Audience: Underwriters, Compliance, Legal, Ops.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Focus: Usability, workflow speed, regulatory safety.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Message: 'We are removing manual grunt work so you focus on high-value cases.'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Cadence: Sprint Demos &amp; User Feedback Sessions.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Taking PV to the Agile Squad: Inspiring Engineers &amp; Data Scientists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Practical Techniques for POs to Embed Vision into Squad Culture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The 'Why' in Every User Story: </a:t>
            </a:r>
            <a:r>
              <a:rPr sz="1150">
                <a:solidFill>
                  <a:srgbClr val="1E293B"/>
                </a:solidFill>
              </a:rPr>
              <a:t>Start every Jira epic and user story with a clear 'In order to [Achieve Vision Goal]...' business context line.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Sprint Goal Alignment: </a:t>
            </a:r>
            <a:r>
              <a:rPr sz="1150">
                <a:solidFill>
                  <a:srgbClr val="1E293B"/>
                </a:solidFill>
              </a:rPr>
              <a:t>Ensure every 2-week Sprint Goal maps directly to one of the 5 Strategic Vision Pillars.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Demystify Technical Debt: </a:t>
            </a:r>
            <a:r>
              <a:rPr sz="1150">
                <a:solidFill>
                  <a:srgbClr val="1E293B"/>
                </a:solidFill>
              </a:rPr>
              <a:t>Frame technical enabler stories (ETL refactoring, MLOps pipeline fixes) as enablers of vision scale and decision latency.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Celebrate Outcome Wins in Demos: </a:t>
            </a:r>
            <a:r>
              <a:rPr sz="1150">
                <a:solidFill>
                  <a:srgbClr val="1E293B"/>
                </a:solidFill>
              </a:rPr>
              <a:t>In sprint demos, don't just show passing tests—highlight real business metrics (e.g., 'This deployment cut decision latency by 40%!').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Customer Empathy Sessions: </a:t>
            </a:r>
            <a:r>
              <a:rPr sz="1150">
                <a:solidFill>
                  <a:srgbClr val="1E293B"/>
                </a:solidFill>
              </a:rPr>
              <a:t>Bring squad engineers to shadow actual underwriters and risk managers to see pain points firsthand.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Pitching PV to Executive Leadership &amp; C-Suite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How to Win Executive Buy-In &amp; Budget Approval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Lead with Enterprise ROI &amp; Risk Savings: </a:t>
            </a:r>
            <a:r>
              <a:rPr sz="1150">
                <a:solidFill>
                  <a:srgbClr val="1E293B"/>
                </a:solidFill>
              </a:rPr>
              <a:t>C-suite executives care about growth, profit margins, capital provisions, and risk mitigation. Start with financial impact.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Align with Corporate OKRs: </a:t>
            </a:r>
            <a:r>
              <a:rPr sz="1150">
                <a:solidFill>
                  <a:srgbClr val="1E293B"/>
                </a:solidFill>
              </a:rPr>
              <a:t>Demonstrate exactly how your product vision supports top-level company objectives (e.g., digital transformation, ROE targets).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Acknowledge Risk &amp; Regulatory Guardrails: </a:t>
            </a:r>
            <a:r>
              <a:rPr sz="1150">
                <a:solidFill>
                  <a:srgbClr val="1E293B"/>
                </a:solidFill>
              </a:rPr>
              <a:t>Proactively address regulatory risks (compliance, FCRA, Basel III/IV) before executives ask.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Keep it High-Level (No Tech Jargon): </a:t>
            </a:r>
            <a:r>
              <a:rPr sz="1150">
                <a:solidFill>
                  <a:srgbClr val="1E293B"/>
                </a:solidFill>
              </a:rPr>
              <a:t>Avoid deep technical jargon (e.g., Spark clusters, hyperparameter tuning). Focus on capabilities and outcomes.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7490"/>
                </a:solidFill>
              </a:rPr>
              <a:t>Present a Phased Investment Horizon: </a:t>
            </a:r>
            <a:r>
              <a:rPr sz="1150">
                <a:solidFill>
                  <a:srgbClr val="1E293B"/>
                </a:solidFill>
              </a:rPr>
              <a:t>Show a clear 3-year phased roadmap with clear milestone gates and value capture points.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Aligning Cross-Functional Partners (Ops, Compliance, Risk)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053535"/>
              </a:tblGrid>
              <a:tr h="9326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Partner 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Primary Concern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 Vision Alignment Strategy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Credit Operations &amp; Underwriters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efficiency, system reliability, manual effort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Highlight automated assistance, faster turnaround, and clear decision codes.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Regulatory Compliance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Legal liability, fair lending, model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Embed SHAP explainability, demographic parity checks, and 7-year audit logging into vision.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Enterprise Risk Management (CRO)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Portfolio loss rates, provision volatility, capital adequacy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Align vision metrics with default reduction, Gini accuracy, and risk-adjusted return.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IT Infrastructure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 security, API scalability, infrastructure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Incorporate standardized feature store APIs, cloud security, and automated SLA monitoring.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Storytelling &amp; Narrative Techniques for Product Owners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The 'Hero's Journey' Storytelling Model for Product Vision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1. The Hero (Customer / User): </a:t>
            </a:r>
            <a:r>
              <a:rPr sz="1150">
                <a:solidFill>
                  <a:srgbClr val="1E293B"/>
                </a:solidFill>
              </a:rPr>
              <a:t>Introduce your target user (e.g., Sarah, a Credit Risk Analyst trying to process 500 loan reviews daily).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2. The Monster (Current Friction): </a:t>
            </a:r>
            <a:r>
              <a:rPr sz="1150">
                <a:solidFill>
                  <a:srgbClr val="1E293B"/>
                </a:solidFill>
              </a:rPr>
              <a:t>Describe the current painful state (e.g., slow manual credit checks, legacy bureau lag, high default risk).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3. The Mentor / Weapon (Our Product Vision): </a:t>
            </a:r>
            <a:r>
              <a:rPr sz="1150">
                <a:solidFill>
                  <a:srgbClr val="1E293B"/>
                </a:solidFill>
              </a:rPr>
              <a:t>Introduce your product as the powerful tool that empowers the hero to overcome the challenge.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4. The Transformation (Future State): </a:t>
            </a:r>
            <a:r>
              <a:rPr sz="1150">
                <a:solidFill>
                  <a:srgbClr val="1E293B"/>
                </a:solidFill>
              </a:rPr>
              <a:t>Paint a vivid picture of the transformed future (e.g., instant sub-second AI decisions with 100% SHAP explainability).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5. The Call to Action (Squad Alignment): </a:t>
            </a:r>
            <a:r>
              <a:rPr sz="1150">
                <a:solidFill>
                  <a:srgbClr val="1E293B"/>
                </a:solidFill>
              </a:rPr>
              <a:t>Rally the team around building the first milestone on the roadmap to achieve this future.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Domain Application: Data &amp; Analytics Tribe &amp; Credit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🏛️ D&amp;A Tribe Mission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Turn enterprise risk data into real-time decision intelligence.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Provide scalable data products, MLOps, and Feature Stores.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Enable self-service risk analytics across business units.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💳 Credit Domain Scope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Underwriting Risk ML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Early Warning &amp; Delinquency Predictors (EWS)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Collections &amp; Recovery Optimization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Explainable AI (SHAP) &amp; Basel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🎯 PO Responsibility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Translate generic PV frameworks into credit risk capabilities.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Balance financial default reduction with approval throughput.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Ensure 100% fair lending compliance.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End-to-End Credit Management Lifecycle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Origination &amp; Pre-Screening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Pre-qualification models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Alternative data ingestion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Instant pre-approval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2011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07792" y="1463040"/>
            <a:ext cx="20116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Underwriting &amp; Decisioning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3774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Automated Risk Rating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Policy &amp; Limit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Real-time ML Risk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11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4064" y="1463040"/>
            <a:ext cx="2011680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Portfolio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3774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Limit adjustment models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Behavioral risk monitoring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Cross-sell risk gating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2011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0336" y="1463040"/>
            <a:ext cx="201168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Early Warning System (EWS)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6" y="23774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Delinquency predictors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Cash-flow distress signals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Proactive intervention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463040"/>
            <a:ext cx="2011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36608" y="1463040"/>
            <a:ext cx="201168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Collections &amp;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3774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Segmentation &amp; Channel optimization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Loss-Given-Default (LGD) models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Automated workout plans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5 Strategic Pillars of Credit Product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1737360"/>
            <a:ext cx="731520" cy="73152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8105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1: Real-Time Risk Decisioning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Instant, ML-driven credit scoring under 500ms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38728" y="173736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651760"/>
            <a:ext cx="18105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2: Predictive Early Warning (EWS)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Behavioral distress signals caught 60-90 days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73736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651760"/>
            <a:ext cx="18105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3: Collections &amp; Recovery AI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Propensity segmentation &amp; optimal channel orchestration.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91272" y="1737360"/>
            <a:ext cx="731520" cy="7315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6" y="2651760"/>
            <a:ext cx="18105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4: Explainable AI Governance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100% SHAP explainability &amp; zero demographic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46304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67544" y="1737360"/>
            <a:ext cx="731520" cy="73152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651760"/>
            <a:ext cx="18105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5: Self-Service Risk Data Mesh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Democratized feature store for ad-hoc risk views.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Credit Management Worked Example: Geoffrey Moore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Credit Management Product Vision (Geoffrey Moore Formula)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FOR: </a:t>
            </a:r>
            <a:r>
              <a:rPr sz="1200">
                <a:solidFill>
                  <a:srgbClr val="1E293B"/>
                </a:solidFill>
              </a:rPr>
              <a:t>Credit Underwriters, Risk Managers, and Origination Teams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WHO NEED: </a:t>
            </a:r>
            <a:r>
              <a:rPr sz="1200">
                <a:solidFill>
                  <a:srgbClr val="1E293B"/>
                </a:solidFill>
              </a:rPr>
              <a:t>Instant, accurate, and fair credit risk assessments for loan applicants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THE (Product Name): </a:t>
            </a:r>
            <a:r>
              <a:rPr sz="1200">
                <a:solidFill>
                  <a:srgbClr val="1E293B"/>
                </a:solidFill>
              </a:rPr>
              <a:t>The Next-Gen Credit Decision Engine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THAT IS A: </a:t>
            </a:r>
            <a:r>
              <a:rPr sz="1200">
                <a:solidFill>
                  <a:srgbClr val="1E293B"/>
                </a:solidFill>
              </a:rPr>
              <a:t>Real-time Machine Learning and Risk Scoring Data Product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THAT DELIVERS: </a:t>
            </a:r>
            <a:r>
              <a:rPr sz="1200">
                <a:solidFill>
                  <a:srgbClr val="1E293B"/>
                </a:solidFill>
              </a:rPr>
              <a:t>Automated risk ratings, 60-day early warning alerts, and 100% explainable decisioning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UNLIKE: </a:t>
            </a:r>
            <a:r>
              <a:rPr sz="1200">
                <a:solidFill>
                  <a:srgbClr val="1E293B"/>
                </a:solidFill>
              </a:rPr>
              <a:t>Legacy static credit bureau scorecards and manual underwriting workflows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172A"/>
                </a:solidFill>
              </a:rPr>
              <a:t>OUR PRODUCT: </a:t>
            </a:r>
            <a:r>
              <a:rPr sz="1200">
                <a:solidFill>
                  <a:srgbClr val="1E293B"/>
                </a:solidFill>
              </a:rPr>
              <a:t>Unifies alternative data, real-time ML inference, and transparent SHAP governance to cut loss rates while accelerating approval times.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Credit Management Worked Example: Roman Pichler 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VISION: To empower automated, zero-bias credit decisions and proactive delinquency mitigation, driving profitable credit growth while safeguarding portfolio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TARGET GROUP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Retail &amp; SME Risk Ops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Credit Approval Committee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Compliance Officers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Collections Squads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NEEDS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Sub-second risk scoring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Explainable decisions (SHAP)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Proactive distress alerts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Loss provision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PRODUCT FEATURES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ML Scorecard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Real-time bureau API fetcher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EWS distress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Automated workout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65176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2743200"/>
            <a:ext cx="2359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BUSINESS GOALS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15% reduction in NPLs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40% faster turnaround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100% fair lending compliance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$12M loss savings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Metric Architecture: Connecting Vision to Measurable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🌟 NORTH STAR METRIC: Risk-Adjusted Decision Efficiency Index (RADEI)</a:t>
            </a:r>
          </a:p>
          <a:p>
            <a:pPr>
              <a:spcBef>
                <a:spcPts val="400"/>
              </a:spcBef>
              <a:defRPr sz="1200" b="1">
                <a:solidFill>
                  <a:srgbClr val="0E7490"/>
                </a:solidFill>
              </a:defRPr>
            </a:pPr>
            <a:r>
              <a:t>Formula: (Automated Approval Rate % × Model Gini Score) ÷ (Default Rate % + API Latency Sec)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Balances growth (approval throughput) with risk control (model predictive power &amp; low delinquency).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📊 Model Quality Metrics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AUC-ROC &gt; 0.85 &amp; Gini &gt; 0.70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KS Statistic &gt; 45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PSI (Stability Index) &lt; 0.10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Feature Importance SHAP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💰 Financial Risk Metrics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NPL (Non-Performing Loan) Ratio %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Cost of Risk (Provision Savings)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30/60/90 Day Delinquency Rates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Collections Cure Rate &amp; Recovery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Operational SLA Metrics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API Decision Latency &lt; 300ms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STP (Straight-Through Processing) %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Manual Overrides &lt; 5%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Model Retraining Cycle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PRODUCT VISION MASTERCLASS | GENERIC CONCEPTS &amp; CREDIT DOMAIN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30-60-90 Day PO Roadmap to Vision Ownership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🔍 Days 1-30: Discover &amp; Audit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Conduct 1:1 stakeholder interviews (CRO, Underwriting Leads, Compliance).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Audit existing credit models, Gini scores, data pipelines, and tech debt.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Shadow underwriters to observe pain points firsthand.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Map current backlog epics to business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🎯 Days 31-60: Formulate &amp; Align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Draft the Product Vision Board and 5 Strategic Pillars for Credit Management.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Define squad North Star Metric and supporting OKRs for upcoming quarters.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Host Vision Alignment Workshop with Data Science, Engineering, and CRO teams.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Refine backlog: sunset low-value tickets and align epics with vision pillars.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🚀 Days 61-90: Execute &amp; Scale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Publish finalized 12-month strategic roadmap to the enterprise.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Establish bi-weekly model performance reviews with Risk &amp; Compliance.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Drive sprint execution against vision-aligned epics with high squad velocity.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Present vision impact summary to Data &amp; Analytics Tribe leadership.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 VISION READINESS CHECKLIST &amp; NEXT STEPS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Your Quick Refresher for Vision Leadership in Credit Management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Have you defined WHY the product exists beyond feature delivery and technical specs?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Is your vision focused on long-term outcome (default reduction &amp; approval speed) rather than output?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Have you selected and applied a framework (Moore, Pichler, Sinek, Cagan, or RPT)?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Is there a clear North Star Metric (RADEI) connecting daily backlog items to high-level strategy?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Have you tailored your vision socialization script for Squads, Leadership, and Partners?</a:t>
            </a:r>
          </a:p>
          <a:p>
            <a:pPr>
              <a:spcBef>
                <a:spcPts val="1200"/>
              </a:spcBef>
              <a:defRPr sz="1250">
                <a:solidFill>
                  <a:srgbClr val="F1F5F9"/>
                </a:solidFill>
              </a:defRPr>
            </a:pPr>
            <a:r>
              <a:t>✅ Does your vision cover all 5 Credit Management Pillars (Underwriting, EWS, Collections, SHAP, Data Mesh)?</a:t>
            </a:r>
          </a:p>
          <a:p>
            <a:pPr>
              <a:spcBef>
                <a:spcPts val="2000"/>
              </a:spcBef>
              <a:defRPr sz="1500" b="1">
                <a:solidFill>
                  <a:srgbClr val="059669"/>
                </a:solidFill>
              </a:defRPr>
            </a:pPr>
            <a:r>
              <a:t>🚀 Congratulations! You are now fully equipped to lead Product Vision with mastery!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